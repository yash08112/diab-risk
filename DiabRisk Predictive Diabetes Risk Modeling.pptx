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Open Sauce" charset="1" panose="00000500000000000000"/>
      <p:regular r:id="rId11"/>
    </p:embeddedFont>
    <p:embeddedFont>
      <p:font typeface="Open Sauce Light" charset="1" panose="000004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100000">
            <a:off x="1561230" y="3154241"/>
            <a:ext cx="11435325" cy="13093213"/>
            <a:chOff x="0" y="0"/>
            <a:chExt cx="3011773" cy="3448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1773" cy="3448418"/>
            </a:xfrm>
            <a:custGeom>
              <a:avLst/>
              <a:gdLst/>
              <a:ahLst/>
              <a:cxnLst/>
              <a:rect r="r" b="b" t="t" l="l"/>
              <a:pathLst>
                <a:path h="3448418" w="3011773">
                  <a:moveTo>
                    <a:pt x="33851" y="0"/>
                  </a:moveTo>
                  <a:lnTo>
                    <a:pt x="2977922" y="0"/>
                  </a:lnTo>
                  <a:cubicBezTo>
                    <a:pt x="2986900" y="0"/>
                    <a:pt x="2995510" y="3566"/>
                    <a:pt x="3001858" y="9915"/>
                  </a:cubicBezTo>
                  <a:cubicBezTo>
                    <a:pt x="3008206" y="16263"/>
                    <a:pt x="3011773" y="24873"/>
                    <a:pt x="3011773" y="33851"/>
                  </a:cubicBezTo>
                  <a:lnTo>
                    <a:pt x="3011773" y="3414567"/>
                  </a:lnTo>
                  <a:cubicBezTo>
                    <a:pt x="3011773" y="3433263"/>
                    <a:pt x="2996617" y="3448418"/>
                    <a:pt x="2977922" y="3448418"/>
                  </a:cubicBezTo>
                  <a:lnTo>
                    <a:pt x="33851" y="3448418"/>
                  </a:lnTo>
                  <a:cubicBezTo>
                    <a:pt x="15156" y="3448418"/>
                    <a:pt x="0" y="3433263"/>
                    <a:pt x="0" y="3414567"/>
                  </a:cubicBezTo>
                  <a:lnTo>
                    <a:pt x="0" y="33851"/>
                  </a:lnTo>
                  <a:cubicBezTo>
                    <a:pt x="0" y="24873"/>
                    <a:pt x="3566" y="16263"/>
                    <a:pt x="9915" y="9915"/>
                  </a:cubicBezTo>
                  <a:cubicBezTo>
                    <a:pt x="16263" y="3566"/>
                    <a:pt x="24873" y="0"/>
                    <a:pt x="33851" y="0"/>
                  </a:cubicBezTo>
                  <a:close/>
                </a:path>
              </a:pathLst>
            </a:custGeom>
            <a:solidFill>
              <a:srgbClr val="00444D"/>
            </a:solidFill>
            <a:ln w="142875" cap="rnd">
              <a:gradFill>
                <a:gsLst>
                  <a:gs pos="0">
                    <a:srgbClr val="004E59">
                      <a:alpha val="100000"/>
                    </a:srgbClr>
                  </a:gs>
                  <a:gs pos="100000">
                    <a:srgbClr val="00BFB6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011773" cy="3496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392045"/>
            <a:ext cx="7069523" cy="6856730"/>
            <a:chOff x="0" y="0"/>
            <a:chExt cx="6350000" cy="61588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158909"/>
            </a:xfrm>
            <a:custGeom>
              <a:avLst/>
              <a:gdLst/>
              <a:ahLst/>
              <a:cxnLst/>
              <a:rect r="r" b="b" t="t" l="l"/>
              <a:pathLst>
                <a:path h="6158909" w="6350000">
                  <a:moveTo>
                    <a:pt x="6057900" y="0"/>
                  </a:moveTo>
                  <a:cubicBezTo>
                    <a:pt x="6218555" y="0"/>
                    <a:pt x="6350000" y="131445"/>
                    <a:pt x="6350000" y="292100"/>
                  </a:cubicBezTo>
                  <a:lnTo>
                    <a:pt x="6350000" y="5922391"/>
                  </a:lnTo>
                  <a:cubicBezTo>
                    <a:pt x="6350000" y="6083046"/>
                    <a:pt x="6221603" y="6186551"/>
                    <a:pt x="6064631" y="6152388"/>
                  </a:cubicBezTo>
                  <a:lnTo>
                    <a:pt x="285369" y="4894072"/>
                  </a:lnTo>
                  <a:cubicBezTo>
                    <a:pt x="128397" y="4859782"/>
                    <a:pt x="0" y="4700397"/>
                    <a:pt x="0" y="4539742"/>
                  </a:cubicBezTo>
                  <a:lnTo>
                    <a:pt x="0" y="292100"/>
                  </a:lnTo>
                  <a:cubicBezTo>
                    <a:pt x="0" y="131445"/>
                    <a:pt x="131445" y="0"/>
                    <a:pt x="292100" y="0"/>
                  </a:cubicBezTo>
                  <a:lnTo>
                    <a:pt x="6057900" y="0"/>
                  </a:lnTo>
                  <a:close/>
                </a:path>
              </a:pathLst>
            </a:custGeom>
            <a:blipFill>
              <a:blip r:embed="rId2"/>
              <a:stretch>
                <a:fillRect l="0" t="-1551" r="0" b="-155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259539" y="9020175"/>
            <a:ext cx="999761" cy="238125"/>
          </a:xfrm>
          <a:custGeom>
            <a:avLst/>
            <a:gdLst/>
            <a:ahLst/>
            <a:cxnLst/>
            <a:rect r="r" b="b" t="t" l="l"/>
            <a:pathLst>
              <a:path h="238125" w="999761">
                <a:moveTo>
                  <a:pt x="0" y="0"/>
                </a:moveTo>
                <a:lnTo>
                  <a:pt x="999761" y="0"/>
                </a:lnTo>
                <a:lnTo>
                  <a:pt x="999761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8923655" y="8736489"/>
            <a:ext cx="833564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9020175"/>
            <a:ext cx="306718" cy="238125"/>
          </a:xfrm>
          <a:custGeom>
            <a:avLst/>
            <a:gdLst/>
            <a:ahLst/>
            <a:cxnLst/>
            <a:rect r="r" b="b" t="t" l="l"/>
            <a:pathLst>
              <a:path h="238125" w="306718">
                <a:moveTo>
                  <a:pt x="0" y="0"/>
                </a:moveTo>
                <a:lnTo>
                  <a:pt x="306718" y="0"/>
                </a:lnTo>
                <a:lnTo>
                  <a:pt x="306718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1081915"/>
            <a:ext cx="221047" cy="220243"/>
          </a:xfrm>
          <a:custGeom>
            <a:avLst/>
            <a:gdLst/>
            <a:ahLst/>
            <a:cxnLst/>
            <a:rect r="r" b="b" t="t" l="l"/>
            <a:pathLst>
              <a:path h="220243" w="221047">
                <a:moveTo>
                  <a:pt x="0" y="0"/>
                </a:moveTo>
                <a:lnTo>
                  <a:pt x="221047" y="0"/>
                </a:lnTo>
                <a:lnTo>
                  <a:pt x="221047" y="220243"/>
                </a:lnTo>
                <a:lnTo>
                  <a:pt x="0" y="2202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923655" y="1040431"/>
            <a:ext cx="8335645" cy="298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36"/>
              </a:lnSpc>
            </a:pPr>
            <a:r>
              <a:rPr lang="en-US" sz="7736" spc="-38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DiabRisk: Predictive Modeling for Diabetes Risk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1312" y="1028700"/>
            <a:ext cx="136323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8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DiabRisk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23655" y="9001125"/>
            <a:ext cx="2204491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 spc="9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6</a:t>
            </a:r>
            <a:r>
              <a:rPr lang="en-US" sz="1200" spc="90" strike="noStrike" u="none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April, 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72009" y="5710873"/>
            <a:ext cx="398729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8"/>
              </a:lnSpc>
            </a:pPr>
            <a:r>
              <a:rPr lang="en-US" sz="2198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Leveraging Data Science for Early Detection and Prevention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23655" y="5859168"/>
            <a:ext cx="3899814" cy="77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2"/>
              </a:lnSpc>
              <a:spcBef>
                <a:spcPct val="0"/>
              </a:spcBef>
            </a:pPr>
            <a:r>
              <a:rPr lang="en-US" sz="1487" spc="111" strike="noStrike" u="none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Team-</a:t>
            </a:r>
          </a:p>
          <a:p>
            <a:pPr algn="l" marL="0" indent="0" lvl="0">
              <a:lnSpc>
                <a:spcPts val="2082"/>
              </a:lnSpc>
              <a:spcBef>
                <a:spcPct val="0"/>
              </a:spcBef>
            </a:pPr>
            <a:r>
              <a:rPr lang="en-US" sz="1487" spc="111" strike="noStrike" u="none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Yash Bhati(2511022250058), </a:t>
            </a:r>
          </a:p>
          <a:p>
            <a:pPr algn="l" marL="0" indent="0" lvl="0">
              <a:lnSpc>
                <a:spcPts val="2082"/>
              </a:lnSpc>
              <a:spcBef>
                <a:spcPct val="0"/>
              </a:spcBef>
            </a:pPr>
            <a:r>
              <a:rPr lang="en-US" sz="1487" spc="111" strike="noStrike" u="none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Chitrika Muthamma(2511022250028)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516750" y="6139498"/>
            <a:ext cx="306718" cy="238125"/>
          </a:xfrm>
          <a:custGeom>
            <a:avLst/>
            <a:gdLst/>
            <a:ahLst/>
            <a:cxnLst/>
            <a:rect r="r" b="b" t="t" l="l"/>
            <a:pathLst>
              <a:path h="238125" w="306718">
                <a:moveTo>
                  <a:pt x="0" y="0"/>
                </a:moveTo>
                <a:lnTo>
                  <a:pt x="306719" y="0"/>
                </a:lnTo>
                <a:lnTo>
                  <a:pt x="306719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3922303" y="-3876909"/>
            <a:ext cx="7196728" cy="9367075"/>
            <a:chOff x="0" y="0"/>
            <a:chExt cx="1895435" cy="24670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5435" cy="2467048"/>
            </a:xfrm>
            <a:custGeom>
              <a:avLst/>
              <a:gdLst/>
              <a:ahLst/>
              <a:cxnLst/>
              <a:rect r="r" b="b" t="t" l="l"/>
              <a:pathLst>
                <a:path h="2467048" w="1895435">
                  <a:moveTo>
                    <a:pt x="53788" y="0"/>
                  </a:moveTo>
                  <a:lnTo>
                    <a:pt x="1841647" y="0"/>
                  </a:lnTo>
                  <a:cubicBezTo>
                    <a:pt x="1871353" y="0"/>
                    <a:pt x="1895435" y="24082"/>
                    <a:pt x="1895435" y="53788"/>
                  </a:cubicBezTo>
                  <a:lnTo>
                    <a:pt x="1895435" y="2413261"/>
                  </a:lnTo>
                  <a:cubicBezTo>
                    <a:pt x="1895435" y="2442967"/>
                    <a:pt x="1871353" y="2467048"/>
                    <a:pt x="1841647" y="2467048"/>
                  </a:cubicBezTo>
                  <a:lnTo>
                    <a:pt x="53788" y="2467048"/>
                  </a:lnTo>
                  <a:cubicBezTo>
                    <a:pt x="24082" y="2467048"/>
                    <a:pt x="0" y="2442967"/>
                    <a:pt x="0" y="2413261"/>
                  </a:cubicBezTo>
                  <a:lnTo>
                    <a:pt x="0" y="53788"/>
                  </a:lnTo>
                  <a:cubicBezTo>
                    <a:pt x="0" y="24082"/>
                    <a:pt x="24082" y="0"/>
                    <a:pt x="53788" y="0"/>
                  </a:cubicBezTo>
                  <a:close/>
                </a:path>
              </a:pathLst>
            </a:custGeom>
            <a:solidFill>
              <a:srgbClr val="00444D"/>
            </a:solidFill>
            <a:ln w="142875" cap="rnd">
              <a:gradFill>
                <a:gsLst>
                  <a:gs pos="0">
                    <a:srgbClr val="004E59">
                      <a:alpha val="100000"/>
                    </a:srgbClr>
                  </a:gs>
                  <a:gs pos="100000">
                    <a:srgbClr val="00BFB6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95435" cy="251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771449" y="1081915"/>
            <a:ext cx="221047" cy="220243"/>
          </a:xfrm>
          <a:custGeom>
            <a:avLst/>
            <a:gdLst/>
            <a:ahLst/>
            <a:cxnLst/>
            <a:rect r="r" b="b" t="t" l="l"/>
            <a:pathLst>
              <a:path h="220243" w="221047">
                <a:moveTo>
                  <a:pt x="0" y="0"/>
                </a:moveTo>
                <a:lnTo>
                  <a:pt x="221047" y="0"/>
                </a:lnTo>
                <a:lnTo>
                  <a:pt x="221047" y="220243"/>
                </a:lnTo>
                <a:lnTo>
                  <a:pt x="0" y="220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4265155"/>
            <a:ext cx="6403274" cy="4993145"/>
            <a:chOff x="0" y="0"/>
            <a:chExt cx="6350000" cy="49516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49873" cy="4951520"/>
            </a:xfrm>
            <a:custGeom>
              <a:avLst/>
              <a:gdLst/>
              <a:ahLst/>
              <a:cxnLst/>
              <a:rect r="r" b="b" t="t" l="l"/>
              <a:pathLst>
                <a:path h="4951520" w="6349873">
                  <a:moveTo>
                    <a:pt x="292100" y="0"/>
                  </a:moveTo>
                  <a:cubicBezTo>
                    <a:pt x="131445" y="0"/>
                    <a:pt x="0" y="131445"/>
                    <a:pt x="0" y="292100"/>
                  </a:cubicBezTo>
                  <a:lnTo>
                    <a:pt x="0" y="3332480"/>
                  </a:lnTo>
                  <a:cubicBezTo>
                    <a:pt x="0" y="3493135"/>
                    <a:pt x="128397" y="3652520"/>
                    <a:pt x="285369" y="3686683"/>
                  </a:cubicBezTo>
                  <a:lnTo>
                    <a:pt x="6064504" y="4944999"/>
                  </a:lnTo>
                  <a:cubicBezTo>
                    <a:pt x="6221476" y="4979162"/>
                    <a:pt x="6349873" y="4875657"/>
                    <a:pt x="6349873" y="4715002"/>
                  </a:cubicBezTo>
                  <a:lnTo>
                    <a:pt x="6349873" y="292100"/>
                  </a:lnTo>
                  <a:cubicBezTo>
                    <a:pt x="6349873" y="131445"/>
                    <a:pt x="6218428" y="0"/>
                    <a:pt x="6057773" y="0"/>
                  </a:cubicBezTo>
                  <a:lnTo>
                    <a:pt x="292100" y="0"/>
                  </a:lnTo>
                  <a:close/>
                </a:path>
              </a:pathLst>
            </a:custGeom>
            <a:blipFill>
              <a:blip r:embed="rId4"/>
              <a:stretch>
                <a:fillRect l="0" t="-1857" r="0" b="-1857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837282" y="4265155"/>
            <a:ext cx="306718" cy="238125"/>
          </a:xfrm>
          <a:custGeom>
            <a:avLst/>
            <a:gdLst/>
            <a:ahLst/>
            <a:cxnLst/>
            <a:rect r="r" b="b" t="t" l="l"/>
            <a:pathLst>
              <a:path h="238125" w="306718">
                <a:moveTo>
                  <a:pt x="0" y="0"/>
                </a:moveTo>
                <a:lnTo>
                  <a:pt x="306718" y="0"/>
                </a:lnTo>
                <a:lnTo>
                  <a:pt x="306718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980771" y="5156377"/>
            <a:ext cx="7278529" cy="894544"/>
            <a:chOff x="0" y="0"/>
            <a:chExt cx="1916979" cy="235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16979" cy="235600"/>
            </a:xfrm>
            <a:custGeom>
              <a:avLst/>
              <a:gdLst/>
              <a:ahLst/>
              <a:cxnLst/>
              <a:rect r="r" b="b" t="t" l="l"/>
              <a:pathLst>
                <a:path h="235600" w="1916979">
                  <a:moveTo>
                    <a:pt x="26592" y="0"/>
                  </a:moveTo>
                  <a:lnTo>
                    <a:pt x="1890387" y="0"/>
                  </a:lnTo>
                  <a:cubicBezTo>
                    <a:pt x="1897440" y="0"/>
                    <a:pt x="1904203" y="2802"/>
                    <a:pt x="1909190" y="7789"/>
                  </a:cubicBezTo>
                  <a:cubicBezTo>
                    <a:pt x="1914177" y="12775"/>
                    <a:pt x="1916979" y="19539"/>
                    <a:pt x="1916979" y="26592"/>
                  </a:cubicBezTo>
                  <a:lnTo>
                    <a:pt x="1916979" y="209008"/>
                  </a:lnTo>
                  <a:cubicBezTo>
                    <a:pt x="1916979" y="223695"/>
                    <a:pt x="1905073" y="235600"/>
                    <a:pt x="1890387" y="235600"/>
                  </a:cubicBezTo>
                  <a:lnTo>
                    <a:pt x="26592" y="235600"/>
                  </a:lnTo>
                  <a:cubicBezTo>
                    <a:pt x="11905" y="235600"/>
                    <a:pt x="0" y="223695"/>
                    <a:pt x="0" y="209008"/>
                  </a:cubicBezTo>
                  <a:lnTo>
                    <a:pt x="0" y="26592"/>
                  </a:lnTo>
                  <a:cubicBezTo>
                    <a:pt x="0" y="11905"/>
                    <a:pt x="11905" y="0"/>
                    <a:pt x="26592" y="0"/>
                  </a:cubicBezTo>
                  <a:close/>
                </a:path>
              </a:pathLst>
            </a:custGeom>
            <a:solidFill>
              <a:srgbClr val="00444D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916979" cy="28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80771" y="6329845"/>
            <a:ext cx="7278529" cy="894544"/>
            <a:chOff x="0" y="0"/>
            <a:chExt cx="1916979" cy="235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16979" cy="235600"/>
            </a:xfrm>
            <a:custGeom>
              <a:avLst/>
              <a:gdLst/>
              <a:ahLst/>
              <a:cxnLst/>
              <a:rect r="r" b="b" t="t" l="l"/>
              <a:pathLst>
                <a:path h="235600" w="1916979">
                  <a:moveTo>
                    <a:pt x="26592" y="0"/>
                  </a:moveTo>
                  <a:lnTo>
                    <a:pt x="1890387" y="0"/>
                  </a:lnTo>
                  <a:cubicBezTo>
                    <a:pt x="1897440" y="0"/>
                    <a:pt x="1904203" y="2802"/>
                    <a:pt x="1909190" y="7789"/>
                  </a:cubicBezTo>
                  <a:cubicBezTo>
                    <a:pt x="1914177" y="12775"/>
                    <a:pt x="1916979" y="19539"/>
                    <a:pt x="1916979" y="26592"/>
                  </a:cubicBezTo>
                  <a:lnTo>
                    <a:pt x="1916979" y="209008"/>
                  </a:lnTo>
                  <a:cubicBezTo>
                    <a:pt x="1916979" y="223695"/>
                    <a:pt x="1905073" y="235600"/>
                    <a:pt x="1890387" y="235600"/>
                  </a:cubicBezTo>
                  <a:lnTo>
                    <a:pt x="26592" y="235600"/>
                  </a:lnTo>
                  <a:cubicBezTo>
                    <a:pt x="11905" y="235600"/>
                    <a:pt x="0" y="223695"/>
                    <a:pt x="0" y="209008"/>
                  </a:cubicBezTo>
                  <a:lnTo>
                    <a:pt x="0" y="26592"/>
                  </a:lnTo>
                  <a:cubicBezTo>
                    <a:pt x="0" y="11905"/>
                    <a:pt x="11905" y="0"/>
                    <a:pt x="26592" y="0"/>
                  </a:cubicBezTo>
                  <a:close/>
                </a:path>
              </a:pathLst>
            </a:custGeom>
            <a:solidFill>
              <a:srgbClr val="00444D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916979" cy="28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80771" y="7500615"/>
            <a:ext cx="7278529" cy="1107183"/>
            <a:chOff x="0" y="0"/>
            <a:chExt cx="1916979" cy="2916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16979" cy="291604"/>
            </a:xfrm>
            <a:custGeom>
              <a:avLst/>
              <a:gdLst/>
              <a:ahLst/>
              <a:cxnLst/>
              <a:rect r="r" b="b" t="t" l="l"/>
              <a:pathLst>
                <a:path h="291604" w="1916979">
                  <a:moveTo>
                    <a:pt x="26592" y="0"/>
                  </a:moveTo>
                  <a:lnTo>
                    <a:pt x="1890387" y="0"/>
                  </a:lnTo>
                  <a:cubicBezTo>
                    <a:pt x="1897440" y="0"/>
                    <a:pt x="1904203" y="2802"/>
                    <a:pt x="1909190" y="7789"/>
                  </a:cubicBezTo>
                  <a:cubicBezTo>
                    <a:pt x="1914177" y="12775"/>
                    <a:pt x="1916979" y="19539"/>
                    <a:pt x="1916979" y="26592"/>
                  </a:cubicBezTo>
                  <a:lnTo>
                    <a:pt x="1916979" y="265012"/>
                  </a:lnTo>
                  <a:cubicBezTo>
                    <a:pt x="1916979" y="279698"/>
                    <a:pt x="1905073" y="291604"/>
                    <a:pt x="1890387" y="291604"/>
                  </a:cubicBezTo>
                  <a:lnTo>
                    <a:pt x="26592" y="291604"/>
                  </a:lnTo>
                  <a:cubicBezTo>
                    <a:pt x="11905" y="291604"/>
                    <a:pt x="0" y="279698"/>
                    <a:pt x="0" y="265012"/>
                  </a:cubicBezTo>
                  <a:lnTo>
                    <a:pt x="0" y="26592"/>
                  </a:lnTo>
                  <a:cubicBezTo>
                    <a:pt x="0" y="11905"/>
                    <a:pt x="11905" y="0"/>
                    <a:pt x="26592" y="0"/>
                  </a:cubicBezTo>
                  <a:close/>
                </a:path>
              </a:pathLst>
            </a:custGeom>
            <a:solidFill>
              <a:srgbClr val="00444D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916979" cy="339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8" id="18"/>
          <p:cNvSpPr/>
          <p:nvPr/>
        </p:nvSpPr>
        <p:spPr>
          <a:xfrm flipV="true">
            <a:off x="9980771" y="9263062"/>
            <a:ext cx="7278529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28700" y="9020175"/>
            <a:ext cx="999761" cy="238125"/>
          </a:xfrm>
          <a:custGeom>
            <a:avLst/>
            <a:gdLst/>
            <a:ahLst/>
            <a:cxnLst/>
            <a:rect r="r" b="b" t="t" l="l"/>
            <a:pathLst>
              <a:path h="238125" w="999761">
                <a:moveTo>
                  <a:pt x="0" y="0"/>
                </a:moveTo>
                <a:lnTo>
                  <a:pt x="999761" y="0"/>
                </a:lnTo>
                <a:lnTo>
                  <a:pt x="999761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064061" y="1038225"/>
            <a:ext cx="13863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2"/>
              </a:lnSpc>
              <a:spcBef>
                <a:spcPct val="0"/>
              </a:spcBef>
            </a:pPr>
            <a:r>
              <a:rPr lang="en-US" sz="191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DiabRisk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998710"/>
            <a:ext cx="8115300" cy="1843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10"/>
              </a:lnSpc>
            </a:pPr>
            <a:r>
              <a:rPr lang="en-US" sz="7110" spc="-35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Data Understanding: CDC BRFSS Dataset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80771" y="4274680"/>
            <a:ext cx="344600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2"/>
              </a:lnSpc>
            </a:pPr>
            <a:r>
              <a:rPr lang="en-US" sz="19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Foundation of Our Model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30241" y="5470299"/>
            <a:ext cx="6379590" cy="23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6"/>
              </a:lnSpc>
            </a:pPr>
            <a:r>
              <a:rPr lang="en-US" sz="1404" spc="10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Dataset: CDC Behavioral Risk Factor Surveillance System (BRFSS)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30241" y="6643767"/>
            <a:ext cx="6379590" cy="23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6"/>
              </a:lnSpc>
            </a:pPr>
            <a:r>
              <a:rPr lang="en-US" sz="1404" spc="10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Scale: 70,692 survey records capturing health behaviors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30241" y="7787506"/>
            <a:ext cx="6379590" cy="47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6"/>
              </a:lnSpc>
            </a:pPr>
            <a:r>
              <a:rPr lang="en-US" sz="1404" spc="10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Key features: demographics, lifestyle factors, and health indicators relevant to diabetes risk prediction.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00000">
            <a:off x="11328112" y="-425222"/>
            <a:ext cx="10837016" cy="6275833"/>
            <a:chOff x="0" y="0"/>
            <a:chExt cx="2854194" cy="16528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4194" cy="1652894"/>
            </a:xfrm>
            <a:custGeom>
              <a:avLst/>
              <a:gdLst/>
              <a:ahLst/>
              <a:cxnLst/>
              <a:rect r="r" b="b" t="t" l="l"/>
              <a:pathLst>
                <a:path h="1652894" w="2854194">
                  <a:moveTo>
                    <a:pt x="35720" y="0"/>
                  </a:moveTo>
                  <a:lnTo>
                    <a:pt x="2818474" y="0"/>
                  </a:lnTo>
                  <a:cubicBezTo>
                    <a:pt x="2838201" y="0"/>
                    <a:pt x="2854194" y="15992"/>
                    <a:pt x="2854194" y="35720"/>
                  </a:cubicBezTo>
                  <a:lnTo>
                    <a:pt x="2854194" y="1617174"/>
                  </a:lnTo>
                  <a:cubicBezTo>
                    <a:pt x="2854194" y="1636902"/>
                    <a:pt x="2838201" y="1652894"/>
                    <a:pt x="2818474" y="1652894"/>
                  </a:cubicBezTo>
                  <a:lnTo>
                    <a:pt x="35720" y="1652894"/>
                  </a:lnTo>
                  <a:cubicBezTo>
                    <a:pt x="15992" y="1652894"/>
                    <a:pt x="0" y="1636902"/>
                    <a:pt x="0" y="1617174"/>
                  </a:cubicBezTo>
                  <a:lnTo>
                    <a:pt x="0" y="35720"/>
                  </a:lnTo>
                  <a:cubicBezTo>
                    <a:pt x="0" y="15992"/>
                    <a:pt x="15992" y="0"/>
                    <a:pt x="35720" y="0"/>
                  </a:cubicBezTo>
                  <a:close/>
                </a:path>
              </a:pathLst>
            </a:custGeom>
            <a:solidFill>
              <a:srgbClr val="00444D"/>
            </a:solidFill>
            <a:ln w="142875" cap="rnd">
              <a:gradFill>
                <a:gsLst>
                  <a:gs pos="0">
                    <a:srgbClr val="004E59">
                      <a:alpha val="100000"/>
                    </a:srgbClr>
                  </a:gs>
                  <a:gs pos="100000">
                    <a:srgbClr val="00BFB6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854194" cy="1700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92479" y="1028700"/>
            <a:ext cx="12566821" cy="5090819"/>
            <a:chOff x="0" y="0"/>
            <a:chExt cx="6350000" cy="25723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44"/>
              <a:ext cx="6350000" cy="2572429"/>
            </a:xfrm>
            <a:custGeom>
              <a:avLst/>
              <a:gdLst/>
              <a:ahLst/>
              <a:cxnLst/>
              <a:rect r="r" b="b" t="t" l="l"/>
              <a:pathLst>
                <a:path h="2572429" w="6350000">
                  <a:moveTo>
                    <a:pt x="285369" y="6521"/>
                  </a:moveTo>
                  <a:cubicBezTo>
                    <a:pt x="128397" y="-27642"/>
                    <a:pt x="0" y="75863"/>
                    <a:pt x="0" y="236518"/>
                  </a:cubicBezTo>
                  <a:lnTo>
                    <a:pt x="0" y="2280329"/>
                  </a:lnTo>
                  <a:cubicBezTo>
                    <a:pt x="0" y="2440984"/>
                    <a:pt x="131445" y="2572429"/>
                    <a:pt x="292100" y="2572429"/>
                  </a:cubicBezTo>
                  <a:lnTo>
                    <a:pt x="6057900" y="2572429"/>
                  </a:lnTo>
                  <a:cubicBezTo>
                    <a:pt x="6218555" y="2572429"/>
                    <a:pt x="6350000" y="2440984"/>
                    <a:pt x="6350000" y="2280329"/>
                  </a:cubicBezTo>
                  <a:lnTo>
                    <a:pt x="6350000" y="1619294"/>
                  </a:lnTo>
                  <a:cubicBezTo>
                    <a:pt x="6350000" y="1458639"/>
                    <a:pt x="6221603" y="1299254"/>
                    <a:pt x="6064631" y="1265091"/>
                  </a:cubicBezTo>
                  <a:lnTo>
                    <a:pt x="285369" y="6521"/>
                  </a:lnTo>
                  <a:close/>
                </a:path>
              </a:pathLst>
            </a:custGeom>
            <a:blipFill>
              <a:blip r:embed="rId2"/>
              <a:stretch>
                <a:fillRect l="0" t="-20351" r="0" b="-2035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771449" y="1081915"/>
            <a:ext cx="221047" cy="220243"/>
          </a:xfrm>
          <a:custGeom>
            <a:avLst/>
            <a:gdLst/>
            <a:ahLst/>
            <a:cxnLst/>
            <a:rect r="r" b="b" t="t" l="l"/>
            <a:pathLst>
              <a:path h="220243" w="221047">
                <a:moveTo>
                  <a:pt x="0" y="0"/>
                </a:moveTo>
                <a:lnTo>
                  <a:pt x="221047" y="0"/>
                </a:lnTo>
                <a:lnTo>
                  <a:pt x="221047" y="220243"/>
                </a:lnTo>
                <a:lnTo>
                  <a:pt x="0" y="220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999761" cy="238125"/>
          </a:xfrm>
          <a:custGeom>
            <a:avLst/>
            <a:gdLst/>
            <a:ahLst/>
            <a:cxnLst/>
            <a:rect r="r" b="b" t="t" l="l"/>
            <a:pathLst>
              <a:path h="238125" w="999761">
                <a:moveTo>
                  <a:pt x="0" y="0"/>
                </a:moveTo>
                <a:lnTo>
                  <a:pt x="999761" y="0"/>
                </a:lnTo>
                <a:lnTo>
                  <a:pt x="999761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1028700" y="4524546"/>
            <a:ext cx="2827007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586284" y="9068449"/>
            <a:ext cx="306718" cy="238125"/>
          </a:xfrm>
          <a:custGeom>
            <a:avLst/>
            <a:gdLst/>
            <a:ahLst/>
            <a:cxnLst/>
            <a:rect r="r" b="b" t="t" l="l"/>
            <a:pathLst>
              <a:path h="238125" w="306718">
                <a:moveTo>
                  <a:pt x="0" y="0"/>
                </a:moveTo>
                <a:lnTo>
                  <a:pt x="306719" y="0"/>
                </a:lnTo>
                <a:lnTo>
                  <a:pt x="306719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064061" y="1019175"/>
            <a:ext cx="138636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  <a:spcBef>
                <a:spcPct val="0"/>
              </a:spcBef>
            </a:pPr>
            <a:r>
              <a:rPr lang="en-US" sz="209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DiabRisk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2658" y="6710309"/>
            <a:ext cx="12856125" cy="145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92"/>
              </a:lnSpc>
            </a:pPr>
            <a:r>
              <a:rPr lang="en-US" sz="10892" spc="-54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Data Preparation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564585"/>
            <a:ext cx="2827007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</a:pPr>
            <a:r>
              <a:rPr lang="en-US" sz="209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StandardScaler for Feature Normalization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2658" y="8734425"/>
            <a:ext cx="3930114" cy="453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1"/>
              </a:lnSpc>
            </a:pPr>
            <a:r>
              <a:rPr lang="en-US" sz="1286" spc="9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StandardScaler transforms features to zero mean and unit variance for consistency.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15186" y="8734425"/>
            <a:ext cx="3226336" cy="453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1"/>
              </a:lnSpc>
            </a:pPr>
            <a:r>
              <a:rPr lang="en-US" sz="1286" spc="9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Scaling ensures all features contribute equally to model training.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53935" y="8734425"/>
            <a:ext cx="4274848" cy="453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1"/>
              </a:lnSpc>
            </a:pPr>
            <a:r>
              <a:rPr lang="en-US" sz="1286" spc="9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Normalized data improves model performance and enables fair feature comparisons.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44549" y="8734425"/>
            <a:ext cx="4274848" cy="453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1"/>
              </a:lnSpc>
            </a:pPr>
            <a:r>
              <a:rPr lang="en-US" sz="1286" spc="9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Utilized a stratified 80/20 train-test split to strictly monitor the "Generalization Gap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81915"/>
            <a:ext cx="221047" cy="220243"/>
          </a:xfrm>
          <a:custGeom>
            <a:avLst/>
            <a:gdLst/>
            <a:ahLst/>
            <a:cxnLst/>
            <a:rect r="r" b="b" t="t" l="l"/>
            <a:pathLst>
              <a:path h="220243" w="221047">
                <a:moveTo>
                  <a:pt x="0" y="0"/>
                </a:moveTo>
                <a:lnTo>
                  <a:pt x="221047" y="0"/>
                </a:lnTo>
                <a:lnTo>
                  <a:pt x="221047" y="220243"/>
                </a:lnTo>
                <a:lnTo>
                  <a:pt x="0" y="220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4623762"/>
            <a:ext cx="6552992" cy="4634538"/>
            <a:chOff x="0" y="0"/>
            <a:chExt cx="6350000" cy="44909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34"/>
              <a:ext cx="6350000" cy="4490940"/>
            </a:xfrm>
            <a:custGeom>
              <a:avLst/>
              <a:gdLst/>
              <a:ahLst/>
              <a:cxnLst/>
              <a:rect r="r" b="b" t="t" l="l"/>
              <a:pathLst>
                <a:path h="4490940" w="6350000">
                  <a:moveTo>
                    <a:pt x="0" y="4198840"/>
                  </a:moveTo>
                  <a:cubicBezTo>
                    <a:pt x="0" y="4359495"/>
                    <a:pt x="131445" y="4490940"/>
                    <a:pt x="292100" y="4490940"/>
                  </a:cubicBezTo>
                  <a:lnTo>
                    <a:pt x="6057900" y="4490940"/>
                  </a:lnTo>
                  <a:cubicBezTo>
                    <a:pt x="6218555" y="4490940"/>
                    <a:pt x="6350000" y="4359495"/>
                    <a:pt x="6350000" y="4198840"/>
                  </a:cubicBezTo>
                  <a:lnTo>
                    <a:pt x="6350000" y="1621375"/>
                  </a:lnTo>
                  <a:cubicBezTo>
                    <a:pt x="6350000" y="1460720"/>
                    <a:pt x="6221603" y="1301208"/>
                    <a:pt x="6064631" y="1267045"/>
                  </a:cubicBezTo>
                  <a:lnTo>
                    <a:pt x="285369" y="6570"/>
                  </a:lnTo>
                  <a:cubicBezTo>
                    <a:pt x="128397" y="-27720"/>
                    <a:pt x="0" y="75658"/>
                    <a:pt x="0" y="236313"/>
                  </a:cubicBezTo>
                  <a:lnTo>
                    <a:pt x="0" y="4198840"/>
                  </a:lnTo>
                  <a:close/>
                </a:path>
              </a:pathLst>
            </a:custGeom>
            <a:blipFill>
              <a:blip r:embed="rId4"/>
              <a:stretch>
                <a:fillRect l="0" t="-2758" r="0" b="-275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8100000">
            <a:off x="-827220" y="3942642"/>
            <a:ext cx="4797890" cy="9420228"/>
            <a:chOff x="0" y="0"/>
            <a:chExt cx="1263642" cy="24810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3642" cy="2481048"/>
            </a:xfrm>
            <a:custGeom>
              <a:avLst/>
              <a:gdLst/>
              <a:ahLst/>
              <a:cxnLst/>
              <a:rect r="r" b="b" t="t" l="l"/>
              <a:pathLst>
                <a:path h="2481048" w="1263642">
                  <a:moveTo>
                    <a:pt x="80680" y="0"/>
                  </a:moveTo>
                  <a:lnTo>
                    <a:pt x="1182961" y="0"/>
                  </a:lnTo>
                  <a:cubicBezTo>
                    <a:pt x="1204359" y="0"/>
                    <a:pt x="1224880" y="8500"/>
                    <a:pt x="1240011" y="23631"/>
                  </a:cubicBezTo>
                  <a:cubicBezTo>
                    <a:pt x="1255142" y="38761"/>
                    <a:pt x="1263642" y="59283"/>
                    <a:pt x="1263642" y="80680"/>
                  </a:cubicBezTo>
                  <a:lnTo>
                    <a:pt x="1263642" y="2400367"/>
                  </a:lnTo>
                  <a:cubicBezTo>
                    <a:pt x="1263642" y="2421765"/>
                    <a:pt x="1255142" y="2442287"/>
                    <a:pt x="1240011" y="2457417"/>
                  </a:cubicBezTo>
                  <a:cubicBezTo>
                    <a:pt x="1224880" y="2472548"/>
                    <a:pt x="1204359" y="2481048"/>
                    <a:pt x="1182961" y="2481048"/>
                  </a:cubicBezTo>
                  <a:lnTo>
                    <a:pt x="80680" y="2481048"/>
                  </a:lnTo>
                  <a:cubicBezTo>
                    <a:pt x="59283" y="2481048"/>
                    <a:pt x="38761" y="2472548"/>
                    <a:pt x="23631" y="2457417"/>
                  </a:cubicBezTo>
                  <a:cubicBezTo>
                    <a:pt x="8500" y="2442287"/>
                    <a:pt x="0" y="2421765"/>
                    <a:pt x="0" y="2400367"/>
                  </a:cubicBezTo>
                  <a:lnTo>
                    <a:pt x="0" y="80680"/>
                  </a:lnTo>
                  <a:cubicBezTo>
                    <a:pt x="0" y="59283"/>
                    <a:pt x="8500" y="38761"/>
                    <a:pt x="23631" y="23631"/>
                  </a:cubicBezTo>
                  <a:cubicBezTo>
                    <a:pt x="38761" y="8500"/>
                    <a:pt x="59283" y="0"/>
                    <a:pt x="80680" y="0"/>
                  </a:cubicBezTo>
                  <a:close/>
                </a:path>
              </a:pathLst>
            </a:custGeom>
            <a:solidFill>
              <a:srgbClr val="00444D"/>
            </a:solidFill>
            <a:ln w="142875" cap="rnd">
              <a:gradFill>
                <a:gsLst>
                  <a:gs pos="0">
                    <a:srgbClr val="004E59">
                      <a:alpha val="100000"/>
                    </a:srgbClr>
                  </a:gs>
                  <a:gs pos="100000">
                    <a:srgbClr val="00BFB6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63642" cy="2528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259539" y="4623762"/>
            <a:ext cx="999761" cy="238125"/>
          </a:xfrm>
          <a:custGeom>
            <a:avLst/>
            <a:gdLst/>
            <a:ahLst/>
            <a:cxnLst/>
            <a:rect r="r" b="b" t="t" l="l"/>
            <a:pathLst>
              <a:path h="238125" w="999761">
                <a:moveTo>
                  <a:pt x="0" y="0"/>
                </a:moveTo>
                <a:lnTo>
                  <a:pt x="999761" y="0"/>
                </a:lnTo>
                <a:lnTo>
                  <a:pt x="999761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7953375"/>
            <a:ext cx="306718" cy="238125"/>
          </a:xfrm>
          <a:custGeom>
            <a:avLst/>
            <a:gdLst/>
            <a:ahLst/>
            <a:cxnLst/>
            <a:rect r="r" b="b" t="t" l="l"/>
            <a:pathLst>
              <a:path h="238125" w="306718">
                <a:moveTo>
                  <a:pt x="0" y="0"/>
                </a:moveTo>
                <a:lnTo>
                  <a:pt x="306718" y="0"/>
                </a:lnTo>
                <a:lnTo>
                  <a:pt x="306718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028700" y="9253538"/>
            <a:ext cx="7086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321312" y="1028700"/>
            <a:ext cx="151145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4"/>
              </a:lnSpc>
              <a:spcBef>
                <a:spcPct val="0"/>
              </a:spcBef>
            </a:pPr>
            <a:r>
              <a:rPr lang="en-US" sz="157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DiabRisk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970416"/>
            <a:ext cx="8115300" cy="258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50"/>
              </a:lnSpc>
            </a:pPr>
            <a:r>
              <a:rPr lang="en-US" sz="9950" spc="-4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Results: Model Accuracy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416733"/>
            <a:ext cx="7086600" cy="762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 spc="1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Our predictive model demonstrates strong generalization with minimal overfitting, as evidenced by the small gap between training and testing accuracy.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58510"/>
            <a:ext cx="515251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4"/>
              </a:lnSpc>
            </a:pPr>
            <a:r>
              <a:rPr lang="en-US" sz="157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Performance Metrics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591300"/>
            <a:ext cx="165889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0"/>
              </a:lnSpc>
            </a:pPr>
            <a:r>
              <a:rPr lang="en-US" sz="442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76.9%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78959" y="6562725"/>
            <a:ext cx="4873673" cy="50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 spc="1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Training Accuracy achieved on the BRFSS dataset.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78959" y="7391427"/>
            <a:ext cx="5031380" cy="50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 spc="1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Testing Accuracy: 74.1%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 spc="1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Only 2.8% gap confirms good generalization.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004986"/>
            <a:ext cx="7086600" cy="50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 spc="1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Primary Model: Random Forest Classifier with specialized regularization (max_depth=10) to prevent overfitting.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71449" y="1081915"/>
            <a:ext cx="221047" cy="220243"/>
          </a:xfrm>
          <a:custGeom>
            <a:avLst/>
            <a:gdLst/>
            <a:ahLst/>
            <a:cxnLst/>
            <a:rect r="r" b="b" t="t" l="l"/>
            <a:pathLst>
              <a:path h="220243" w="221047">
                <a:moveTo>
                  <a:pt x="0" y="0"/>
                </a:moveTo>
                <a:lnTo>
                  <a:pt x="221047" y="0"/>
                </a:lnTo>
                <a:lnTo>
                  <a:pt x="221047" y="220243"/>
                </a:lnTo>
                <a:lnTo>
                  <a:pt x="0" y="220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700000">
            <a:off x="1333663" y="3719025"/>
            <a:ext cx="14583631" cy="9812905"/>
            <a:chOff x="0" y="0"/>
            <a:chExt cx="3840956" cy="25844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40956" cy="2584469"/>
            </a:xfrm>
            <a:custGeom>
              <a:avLst/>
              <a:gdLst/>
              <a:ahLst/>
              <a:cxnLst/>
              <a:rect r="r" b="b" t="t" l="l"/>
              <a:pathLst>
                <a:path h="2584469" w="3840956">
                  <a:moveTo>
                    <a:pt x="26543" y="0"/>
                  </a:moveTo>
                  <a:lnTo>
                    <a:pt x="3814413" y="0"/>
                  </a:lnTo>
                  <a:cubicBezTo>
                    <a:pt x="3821453" y="0"/>
                    <a:pt x="3828204" y="2797"/>
                    <a:pt x="3833182" y="7774"/>
                  </a:cubicBezTo>
                  <a:cubicBezTo>
                    <a:pt x="3838160" y="12752"/>
                    <a:pt x="3840956" y="19503"/>
                    <a:pt x="3840956" y="26543"/>
                  </a:cubicBezTo>
                  <a:lnTo>
                    <a:pt x="3840956" y="2557926"/>
                  </a:lnTo>
                  <a:cubicBezTo>
                    <a:pt x="3840956" y="2572585"/>
                    <a:pt x="3829072" y="2584469"/>
                    <a:pt x="3814413" y="2584469"/>
                  </a:cubicBezTo>
                  <a:lnTo>
                    <a:pt x="26543" y="2584469"/>
                  </a:lnTo>
                  <a:cubicBezTo>
                    <a:pt x="19503" y="2584469"/>
                    <a:pt x="12752" y="2581672"/>
                    <a:pt x="7774" y="2576694"/>
                  </a:cubicBezTo>
                  <a:cubicBezTo>
                    <a:pt x="2797" y="2571717"/>
                    <a:pt x="0" y="2564965"/>
                    <a:pt x="0" y="2557926"/>
                  </a:cubicBezTo>
                  <a:lnTo>
                    <a:pt x="0" y="26543"/>
                  </a:lnTo>
                  <a:cubicBezTo>
                    <a:pt x="0" y="19503"/>
                    <a:pt x="2797" y="12752"/>
                    <a:pt x="7774" y="7774"/>
                  </a:cubicBezTo>
                  <a:cubicBezTo>
                    <a:pt x="12752" y="2797"/>
                    <a:pt x="19503" y="0"/>
                    <a:pt x="26543" y="0"/>
                  </a:cubicBezTo>
                  <a:close/>
                </a:path>
              </a:pathLst>
            </a:custGeom>
            <a:solidFill>
              <a:srgbClr val="00444D"/>
            </a:solidFill>
            <a:ln w="142875" cap="rnd">
              <a:gradFill>
                <a:gsLst>
                  <a:gs pos="0">
                    <a:srgbClr val="004E59">
                      <a:alpha val="100000"/>
                    </a:srgbClr>
                  </a:gs>
                  <a:gs pos="100000">
                    <a:srgbClr val="00BFB6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840956" cy="2632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9020175"/>
            <a:ext cx="306718" cy="238125"/>
          </a:xfrm>
          <a:custGeom>
            <a:avLst/>
            <a:gdLst/>
            <a:ahLst/>
            <a:cxnLst/>
            <a:rect r="r" b="b" t="t" l="l"/>
            <a:pathLst>
              <a:path h="238125" w="306718">
                <a:moveTo>
                  <a:pt x="0" y="0"/>
                </a:moveTo>
                <a:lnTo>
                  <a:pt x="306718" y="0"/>
                </a:lnTo>
                <a:lnTo>
                  <a:pt x="306718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999761" cy="238125"/>
          </a:xfrm>
          <a:custGeom>
            <a:avLst/>
            <a:gdLst/>
            <a:ahLst/>
            <a:cxnLst/>
            <a:rect r="r" b="b" t="t" l="l"/>
            <a:pathLst>
              <a:path h="238125" w="999761">
                <a:moveTo>
                  <a:pt x="0" y="0"/>
                </a:moveTo>
                <a:lnTo>
                  <a:pt x="999761" y="0"/>
                </a:lnTo>
                <a:lnTo>
                  <a:pt x="999761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1028700" y="7359839"/>
            <a:ext cx="3421574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232070" y="2367915"/>
            <a:ext cx="7027230" cy="6890385"/>
            <a:chOff x="0" y="0"/>
            <a:chExt cx="6267323" cy="61452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-44"/>
              <a:ext cx="6267334" cy="6145193"/>
            </a:xfrm>
            <a:custGeom>
              <a:avLst/>
              <a:gdLst/>
              <a:ahLst/>
              <a:cxnLst/>
              <a:rect r="r" b="b" t="t" l="l"/>
              <a:pathLst>
                <a:path h="6145193" w="6267334">
                  <a:moveTo>
                    <a:pt x="6064631" y="1265091"/>
                  </a:moveTo>
                  <a:cubicBezTo>
                    <a:pt x="6221603" y="1299254"/>
                    <a:pt x="6305296" y="1450765"/>
                    <a:pt x="6250559" y="1601895"/>
                  </a:cubicBezTo>
                  <a:lnTo>
                    <a:pt x="4703953" y="5870619"/>
                  </a:lnTo>
                  <a:cubicBezTo>
                    <a:pt x="4649216" y="6021622"/>
                    <a:pt x="4473067" y="6145193"/>
                    <a:pt x="4312412" y="6145193"/>
                  </a:cubicBezTo>
                  <a:lnTo>
                    <a:pt x="292100" y="6145193"/>
                  </a:lnTo>
                  <a:cubicBezTo>
                    <a:pt x="131445" y="6145193"/>
                    <a:pt x="0" y="6013748"/>
                    <a:pt x="0" y="5853093"/>
                  </a:cubicBezTo>
                  <a:lnTo>
                    <a:pt x="0" y="236518"/>
                  </a:lnTo>
                  <a:cubicBezTo>
                    <a:pt x="0" y="75863"/>
                    <a:pt x="128397" y="-27642"/>
                    <a:pt x="285369" y="6521"/>
                  </a:cubicBezTo>
                  <a:lnTo>
                    <a:pt x="6064631" y="1265091"/>
                  </a:lnTo>
                  <a:close/>
                </a:path>
              </a:pathLst>
            </a:custGeom>
            <a:blipFill>
              <a:blip r:embed="rId8"/>
              <a:stretch>
                <a:fillRect l="0" t="-993" r="0" b="-99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064061" y="1028700"/>
            <a:ext cx="138636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1"/>
              </a:lnSpc>
              <a:spcBef>
                <a:spcPct val="0"/>
              </a:spcBef>
            </a:pPr>
            <a:r>
              <a:rPr lang="en-US" sz="1968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DiabRisk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322437"/>
            <a:ext cx="8115300" cy="271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90"/>
              </a:lnSpc>
            </a:pPr>
            <a:r>
              <a:rPr lang="en-US" sz="10490" spc="-52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Insights and Future Scope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409403"/>
            <a:ext cx="40576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1"/>
              </a:lnSpc>
            </a:pPr>
            <a:r>
              <a:rPr lang="en-US" sz="19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General Health, High BP and BMI: Top Predictors of Diabetes Risk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16357" y="6380828"/>
            <a:ext cx="2920595" cy="70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3"/>
              </a:lnSpc>
            </a:pPr>
            <a:r>
              <a:rPr lang="en-US" sz="1381" spc="103" strike="noStrike" u="none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Key Insight</a:t>
            </a:r>
          </a:p>
          <a:p>
            <a:pPr algn="l" marL="0" indent="0" lvl="0">
              <a:lnSpc>
                <a:spcPts val="1933"/>
              </a:lnSpc>
            </a:pPr>
            <a:r>
              <a:rPr lang="en-US" sz="1381" spc="103" strike="noStrike" u="none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Top predictors identified</a:t>
            </a:r>
          </a:p>
          <a:p>
            <a:pPr algn="l" marL="0" indent="0" lvl="0">
              <a:lnSpc>
                <a:spcPts val="1933"/>
              </a:lnSpc>
            </a:pPr>
            <a:r>
              <a:rPr lang="en-US" sz="1381" spc="103" strike="noStrike" u="none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Scalable 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50274" y="8734425"/>
            <a:ext cx="4693726" cy="46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3"/>
              </a:lnSpc>
            </a:pPr>
            <a:r>
              <a:rPr lang="en-US" sz="1381" spc="10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Future enhancements include expanded datasets and real-time risk monitoring integration.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50274" y="7917610"/>
            <a:ext cx="5086679" cy="70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3"/>
              </a:lnSpc>
            </a:pPr>
            <a:r>
              <a:rPr lang="en-US" sz="1381" spc="10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These findings align with medical standards, proving that large-scale data science can accurately mirror biological realities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DAHGR4P39mM</dc:identifier>
  <dcterms:modified xsi:type="dcterms:W3CDTF">2011-08-01T06:04:30Z</dcterms:modified>
  <cp:revision>1</cp:revision>
  <dc:title>DiabRisk: Predictive Diabetes Risk Modeling</dc:title>
</cp:coreProperties>
</file>